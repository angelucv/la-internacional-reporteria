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2600">
                <a:solidFill>
                  <a:srgbClr val="1B3A5C"/>
                </a:solidFill>
              </a:defRPr>
            </a:pPr>
            <a:r>
              <a:t>Evaluación de gestión, hallazgos y controles</a:t>
            </a:r>
          </a:p>
        </p:txBody>
      </p:sp>
      <p:sp>
        <p:nvSpPr>
          <p:cNvPr id="3" name="Subtitle 2"/>
          <p:cNvSpPr>
            <a:spLocks noGrp="1"/>
          </p:cNvSpPr>
          <p:nvPr>
            <p:ph type="subTitle" idx="1"/>
          </p:nvPr>
        </p:nvSpPr>
        <p:spPr/>
        <p:txBody>
          <a:bodyPr/>
          <a:lstStyle/>
          <a:p>
            <a:pPr>
              <a:defRPr sz="1400">
                <a:solidFill>
                  <a:srgbClr val="333333"/>
                </a:solidFill>
              </a:defRPr>
            </a:pPr>
            <a:r>
              <a:t>Actuarial (ACT)</a:t>
            </a:r>
            <a:br/>
            <a:r>
              <a:t>Plan de Optimización y Rentabilidad 2026</a:t>
            </a:r>
            <a:br/>
            <a:r>
              <a:t>Semana 1 (14–18 abr. 2026)</a:t>
            </a:r>
            <a:br/>
            <a:r>
              <a:t>REP-POR-ACT-Semana01-2026-BORRADOR</a:t>
            </a:r>
            <a:br/>
            <a:br/>
            <a:r>
              <a:t>Clasificación: Confidencial</a:t>
            </a:r>
          </a:p>
          <a:p>
            <a:pPr>
              <a:defRPr sz="1200">
                <a:solidFill>
                  <a:srgbClr val="333333"/>
                </a:solidFill>
              </a:defRPr>
            </a:pPr>
            <a:r>
              <a:t>Responsables (Solicitud): Ángel Colmenares (Líder), Daniela Montes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200" b="1">
                <a:solidFill>
                  <a:srgbClr val="1B3A5C"/>
                </a:solidFill>
              </a:defRPr>
            </a:pPr>
            <a:r>
              <a:t>Objetivo y aspectos generales</a:t>
            </a:r>
          </a:p>
        </p:txBody>
      </p:sp>
      <p:sp>
        <p:nvSpPr>
          <p:cNvPr id="3" name="Content Placeholder 2"/>
          <p:cNvSpPr>
            <a:spLocks noGrp="1"/>
          </p:cNvSpPr>
          <p:nvPr>
            <p:ph idx="1"/>
          </p:nvPr>
        </p:nvSpPr>
        <p:spPr/>
        <p:txBody>
          <a:bodyPr/>
          <a:lstStyle/>
          <a:p>
            <a:pPr>
              <a:spcAft>
                <a:spcPts val="600"/>
              </a:spcAft>
              <a:defRPr sz="1400">
                <a:solidFill>
                  <a:srgbClr val="333333"/>
                </a:solidFill>
              </a:defRPr>
            </a:pPr>
            <a:r>
              <a:t>Enmarcar la solidez técnica del negocio en los términos del plan: margen de solvencia y patrimonio no comprometido, certificación y composición de reservas, programa de retención y reaseguro (incluida la concentración en divisas), y la información analítica que alimenta la supervisión. La semana se orienta a sitúa la mesa frente al cronograma de la solicitud y a preparar la lectura de la información de detalle que vendrá en oleadas posteriores, en coherencia con el estándar de granularidad que exige la inspección general.  ---</a:t>
            </a:r>
          </a:p>
          <a:p>
            <a:pPr>
              <a:spcAft>
                <a:spcPts val="600"/>
              </a:spcAft>
              <a:defRPr sz="1400">
                <a:solidFill>
                  <a:srgbClr val="333333"/>
                </a:solidFill>
              </a:defRPr>
            </a:pPr>
            <a:r>
              <a:t>La mesa arrancó el ciclo con dos sesiones consecutivas en abril: una de presentación institucional de la gerencia actuarial y otra de seguimiento, ya centradas en la prioridad regulatoria del momento y en la recepción de material de gestión y de oferta. Quedó explícita la necesidad de lectura integrada entre reportería interna, oferta de productos y el marco de inspección general en curso.  En paralelo se avanzó en la disponibilidad de canales acordados para consultar la documentación sin depender solo del correo. El calendario concentra la atención en los días previos a una reunión de cierre de semana prevista tras la visita de inspección, con el propósito de sintetizar el estado del trabajo ante el gobierno del proyecto y el accionariado.  Respecto al pliego de la primera oleada, la mesa identifica un desfase informativo todavía tolerable pero relevante: la documentación de solvencia formal, certificación de reservas, cargas analíticas al regulador y el corpus contractual de reaseguro no está aún en el mismo nivel de completitud que la reportería de gestión recién incorporada.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731520"/>
          </a:xfrm>
          <a:prstGeom prst="rect">
            <a:avLst/>
          </a:prstGeom>
          <a:noFill/>
        </p:spPr>
        <p:txBody>
          <a:bodyPr wrap="none">
            <a:spAutoFit/>
          </a:bodyPr>
          <a:lstStyle/>
          <a:p>
            <a:pPr algn="l">
              <a:defRPr sz="2200" b="1">
                <a:solidFill>
                  <a:srgbClr val="1B3A5C"/>
                </a:solidFill>
              </a:defRPr>
            </a:pPr>
            <a:r>
              <a:t>Hallazgos (borrador)</a:t>
            </a:r>
          </a:p>
        </p:txBody>
      </p:sp>
      <p:graphicFrame>
        <p:nvGraphicFramePr>
          <p:cNvPr id="3" name="Table 2"/>
          <p:cNvGraphicFramePr>
            <a:graphicFrameLocks noGrp="1"/>
          </p:cNvGraphicFramePr>
          <p:nvPr/>
        </p:nvGraphicFramePr>
        <p:xfrm>
          <a:off x="457200" y="1097280"/>
          <a:ext cx="8229600" cy="3200400"/>
        </p:xfrm>
        <a:graphic>
          <a:graphicData uri="http://schemas.openxmlformats.org/drawingml/2006/table">
            <a:tbl>
              <a:tblPr firstRow="1" bandRow="1">
                <a:tableStyleId>{5C22544A-7EE6-4342-B048-85BDC9FD1C3A}</a:tableStyleId>
              </a:tblPr>
              <a:tblGrid>
                <a:gridCol w="2743200"/>
                <a:gridCol w="2743200"/>
                <a:gridCol w="2743200"/>
              </a:tblGrid>
              <a:tr h="355600">
                <a:tc>
                  <a:txBody>
                    <a:bodyPr/>
                    <a:lstStyle/>
                    <a:p>
                      <a:pPr>
                        <a:defRPr b="1" sz="1100"/>
                      </a:pPr>
                      <a:r>
                        <a:t>Tema</a:t>
                      </a:r>
                    </a:p>
                  </a:txBody>
                  <a:tcPr/>
                </a:tc>
                <a:tc>
                  <a:txBody>
                    <a:bodyPr/>
                    <a:lstStyle/>
                    <a:p>
                      <a:pPr>
                        <a:defRPr b="1" sz="1100"/>
                      </a:pPr>
                      <a:r>
                        <a:t>Hallazgo (borrador)</a:t>
                      </a:r>
                    </a:p>
                  </a:txBody>
                  <a:tcPr/>
                </a:tc>
                <a:tc>
                  <a:txBody>
                    <a:bodyPr/>
                    <a:lstStyle/>
                    <a:p>
                      <a:pPr>
                        <a:defRPr b="1" sz="1100"/>
                      </a:pPr>
                      <a:r>
                        <a:t>Riesgo</a:t>
                      </a:r>
                    </a:p>
                  </a:txBody>
                  <a:tcPr/>
                </a:tc>
              </a:tr>
              <a:tr h="355600">
                <a:tc>
                  <a:txBody>
                    <a:bodyPr/>
                    <a:lstStyle/>
                    <a:p>
                      <a:pPr>
                        <a:defRPr sz="1000"/>
                      </a:pPr>
                      <a:r>
                        <a:t>Reportería de gestión (cierres recientes)</a:t>
                      </a:r>
                    </a:p>
                  </a:txBody>
                  <a:tcPr/>
                </a:tc>
                <a:tc>
                  <a:txBody>
                    <a:bodyPr/>
                    <a:lstStyle/>
                    <a:p>
                      <a:pPr>
                        <a:defRPr sz="1000"/>
                      </a:pPr>
                      <a:r>
                        <a:t>El material recibido describe con claridad la magnitud operativa por ramos y canales; la lectura preliminar sugiere consistencia interna entre gestión agregada, inventarios y siniestralidad en salud y automóvil. Sirve como mapa de preguntas hacia gerencia antes de cruzar con la línea de detalle supervisora.</a:t>
                      </a:r>
                    </a:p>
                  </a:txBody>
                  <a:tcPr/>
                </a:tc>
                <a:tc>
                  <a:txBody>
                    <a:bodyPr/>
                    <a:lstStyle/>
                    <a:p>
                      <a:pPr>
                        <a:defRPr sz="1000"/>
                      </a:pPr>
                      <a:r>
                        <a:t>Bajo</a:t>
                      </a:r>
                    </a:p>
                  </a:txBody>
                  <a:tcPr/>
                </a:tc>
              </a:tr>
              <a:tr h="355600">
                <a:tc>
                  <a:txBody>
                    <a:bodyPr/>
                    <a:lstStyle/>
                    <a:p>
                      <a:pPr>
                        <a:defRPr sz="1000"/>
                      </a:pPr>
                      <a:r>
                        <a:t>Oferta de productos y servicios</a:t>
                      </a:r>
                    </a:p>
                  </a:txBody>
                  <a:tcPr/>
                </a:tc>
                <a:tc>
                  <a:txBody>
                    <a:bodyPr/>
                    <a:lstStyle/>
                    <a:p>
                      <a:pPr>
                        <a:defRPr sz="1000"/>
                      </a:pPr>
                      <a:r>
                        <a:t>La descripción por ramos cierra la brecha entre lo conversado en sala y lo escrito; destaca salud (incluida la línea con vocación internacional) y la trazabilidad de aprobaciones internas.</a:t>
                      </a:r>
                    </a:p>
                  </a:txBody>
                  <a:tcPr/>
                </a:tc>
                <a:tc>
                  <a:txBody>
                    <a:bodyPr/>
                    <a:lstStyle/>
                    <a:p>
                      <a:pPr>
                        <a:defRPr sz="1000"/>
                      </a:pPr>
                      <a:r>
                        <a:t>Bajo</a:t>
                      </a:r>
                    </a:p>
                  </a:txBody>
                  <a:tcPr/>
                </a:tc>
              </a:tr>
              <a:tr h="355600">
                <a:tc>
                  <a:txBody>
                    <a:bodyPr/>
                    <a:lstStyle/>
                    <a:p>
                      <a:pPr>
                        <a:defRPr sz="1000"/>
                      </a:pPr>
                      <a:r>
                        <a:t>Reaseguro: síntesis frente a marco legal</a:t>
                      </a:r>
                    </a:p>
                  </a:txBody>
                  <a:tcPr/>
                </a:tc>
                <a:tc>
                  <a:txBody>
                    <a:bodyPr/>
                    <a:lstStyle/>
                    <a:p>
                      <a:pPr>
                        <a:defRPr sz="1000"/>
                      </a:pPr>
                      <a:r>
                        <a:t>Existe material resumido de flujos de pago que ayuda a contextualizar el programa, pero no sustituye la visión contractual ni el análisis de concentración y condiciones.</a:t>
                      </a:r>
                    </a:p>
                  </a:txBody>
                  <a:tcPr/>
                </a:tc>
                <a:tc>
                  <a:txBody>
                    <a:bodyPr/>
                    <a:lstStyle/>
                    <a:p>
                      <a:pPr>
                        <a:defRPr sz="1000"/>
                      </a:pPr>
                      <a:r>
                        <a:t>Medio</a:t>
                      </a:r>
                    </a:p>
                  </a:txBody>
                  <a:tcPr/>
                </a:tc>
              </a:tr>
              <a:tr h="355600">
                <a:tc>
                  <a:txBody>
                    <a:bodyPr/>
                    <a:lstStyle/>
                    <a:p>
                      <a:pPr>
                        <a:defRPr sz="1000"/>
                      </a:pPr>
                      <a:r>
                        <a:t>Solvencia y PNC (formalización regulatoria)</a:t>
                      </a:r>
                    </a:p>
                  </a:txBody>
                  <a:tcPr/>
                </a:tc>
                <a:tc>
                  <a:txBody>
                    <a:bodyPr/>
                    <a:lstStyle/>
                    <a:p>
                      <a:pPr>
                        <a:defRPr sz="1000"/>
                      </a:pPr>
                      <a:r>
                        <a:t>La mesa aún no dispone del paquete completo de formularios y soportes de solvencia en los términos de la oleada inicial.</a:t>
                      </a:r>
                    </a:p>
                  </a:txBody>
                  <a:tcPr/>
                </a:tc>
                <a:tc>
                  <a:txBody>
                    <a:bodyPr/>
                    <a:lstStyle/>
                    <a:p>
                      <a:pPr>
                        <a:defRPr sz="1000"/>
                      </a:pPr>
                      <a:r>
                        <a:t>Medio</a:t>
                      </a:r>
                    </a:p>
                  </a:txBody>
                  <a:tcPr/>
                </a:tc>
              </a:tr>
              <a:tr h="355600">
                <a:tc>
                  <a:txBody>
                    <a:bodyPr/>
                    <a:lstStyle/>
                    <a:p>
                      <a:pPr>
                        <a:defRPr sz="1000"/>
                      </a:pPr>
                      <a:r>
                        <a:t>Certificación de reservas</a:t>
                      </a:r>
                    </a:p>
                  </a:txBody>
                  <a:tcPr/>
                </a:tc>
                <a:tc>
                  <a:txBody>
                    <a:bodyPr/>
                    <a:lstStyle/>
                    <a:p>
                      <a:pPr>
                        <a:defRPr sz="1000"/>
                      </a:pPr>
                      <a:r>
                        <a:t>Pendiente de incorporación al expediente en la forma requerida para el diagnóstico.</a:t>
                      </a:r>
                    </a:p>
                  </a:txBody>
                  <a:tcPr/>
                </a:tc>
                <a:tc>
                  <a:txBody>
                    <a:bodyPr/>
                    <a:lstStyle/>
                    <a:p>
                      <a:pPr>
                        <a:defRPr sz="1000"/>
                      </a:pPr>
                      <a:r>
                        <a:t>Medio</a:t>
                      </a:r>
                    </a:p>
                  </a:txBody>
                  <a:tcPr/>
                </a:tc>
              </a:tr>
              <a:tr h="355600">
                <a:tc>
                  <a:txBody>
                    <a:bodyPr/>
                    <a:lstStyle/>
                    <a:p>
                      <a:pPr>
                        <a:defRPr sz="1000"/>
                      </a:pPr>
                      <a:r>
                        <a:t>Carga analítica al regulador</a:t>
                      </a:r>
                    </a:p>
                  </a:txBody>
                  <a:tcPr/>
                </a:tc>
                <a:tc>
                  <a:txBody>
                    <a:bodyPr/>
                    <a:lstStyle/>
                    <a:p>
                      <a:pPr>
                        <a:defRPr sz="1000"/>
                      </a:pPr>
                      <a:r>
                        <a:t>Pendiente la evidencia de cuadre y recepción en los sistemas de información analítica que usa la supervisión.</a:t>
                      </a:r>
                    </a:p>
                  </a:txBody>
                  <a:tcPr/>
                </a:tc>
                <a:tc>
                  <a:txBody>
                    <a:bodyPr/>
                    <a:lstStyle/>
                    <a:p>
                      <a:pPr>
                        <a:defRPr sz="1000"/>
                      </a:pPr>
                      <a:r>
                        <a:t>Medio</a:t>
                      </a:r>
                    </a:p>
                  </a:txBody>
                  <a:tcPr/>
                </a:tc>
              </a:tr>
              <a:tr h="355600">
                <a:tc>
                  <a:txBody>
                    <a:bodyPr/>
                    <a:lstStyle/>
                    <a:p>
                      <a:pPr>
                        <a:defRPr sz="1000"/>
                      </a:pPr>
                      <a:r>
                        <a:t>Contratos de reaseguro</a:t>
                      </a:r>
                    </a:p>
                  </a:txBody>
                  <a:tcPr/>
                </a:tc>
                <a:tc>
                  <a:txBody>
                    <a:bodyPr/>
                    <a:lstStyle/>
                    <a:p>
                      <a:pPr>
                        <a:defRPr sz="1000"/>
                      </a:pPr>
                      <a:r>
                        <a:t>Ausencia del cuerpo contractual integrado eleva la incertidumbre sobre límites, participaciones y gatillos relevantes para la lectura actuarial.</a:t>
                      </a:r>
                    </a:p>
                  </a:txBody>
                  <a:tcPr/>
                </a:tc>
                <a:tc>
                  <a:txBody>
                    <a:bodyPr/>
                    <a:lstStyle/>
                    <a:p>
                      <a:pPr>
                        <a:defRPr sz="1000"/>
                      </a:pPr>
                      <a:r>
                        <a:t>Alto</a:t>
                      </a:r>
                    </a:p>
                  </a:txBody>
                  <a:tcPr/>
                </a:tc>
              </a:tr>
              <a:tr h="355600">
                <a:tc>
                  <a:txBody>
                    <a:bodyPr/>
                    <a:lstStyle/>
                    <a:p>
                      <a:pPr>
                        <a:defRPr sz="1000"/>
                      </a:pPr>
                      <a:r>
                        <a:t>Lectura conjunta: visualización sectorial pública vs. libros internos</a:t>
                      </a:r>
                    </a:p>
                  </a:txBody>
                  <a:tcPr/>
                </a:tc>
                <a:tc>
                  <a:txBody>
                    <a:bodyPr/>
                    <a:lstStyle/>
                    <a:p>
                      <a:pPr>
                        <a:defRPr sz="1000"/>
                      </a:pPr>
                      <a:r>
                        <a:t>Hay convergencia conceptual entre la narrativa de mercado y los libros de gestión, pero falta un puente metodológico sistemático hasta que exista la misma granularidad en los insumos de supervisión.</a:t>
                      </a:r>
                    </a:p>
                  </a:txBody>
                  <a:tcPr/>
                </a:tc>
                <a:tc>
                  <a:txBody>
                    <a:bodyPr/>
                    <a:lstStyle/>
                    <a:p>
                      <a:pPr>
                        <a:defRPr sz="1000"/>
                      </a:pPr>
                      <a:r>
                        <a:t>Medio</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200" b="1">
                <a:solidFill>
                  <a:srgbClr val="1B3A5C"/>
                </a:solidFill>
              </a:defRPr>
            </a:pPr>
            <a:r>
              <a:t>Perspectiva y marco documental</a:t>
            </a:r>
          </a:p>
        </p:txBody>
      </p:sp>
      <p:sp>
        <p:nvSpPr>
          <p:cNvPr id="3" name="Content Placeholder 2"/>
          <p:cNvSpPr>
            <a:spLocks noGrp="1"/>
          </p:cNvSpPr>
          <p:nvPr>
            <p:ph idx="1"/>
          </p:nvPr>
        </p:nvSpPr>
        <p:spPr/>
        <p:txBody>
          <a:bodyPr/>
          <a:lstStyle/>
          <a:p>
            <a:pPr>
              <a:spcAft>
                <a:spcPts val="600"/>
              </a:spcAft>
              <a:defRPr sz="1400">
                <a:solidFill>
                  <a:srgbClr val="333333"/>
                </a:solidFill>
              </a:defRPr>
            </a:pPr>
            <a:r>
              <a:t>Perspectiva (siguiente oleada):</a:t>
            </a:r>
          </a:p>
          <a:p>
            <a:pPr>
              <a:spcAft>
                <a:spcPts val="600"/>
              </a:spcAft>
              <a:defRPr sz="1400">
                <a:solidFill>
                  <a:srgbClr val="333333"/>
                </a:solidFill>
              </a:defRPr>
            </a:pPr>
            <a:r>
              <a:t>• La segunda oleada del plan profundiza en la densidad transaccional (primas, siniestralidad, facultativo y estructura de contratos obligatorios), en la profundidad de reservas (metodología de IBNR, activos admitidos para representación técnica, retención por ramo y recuperaciones), y en la alineación entre lo contable, lo actuarial y lo que reporta el regulador. La mesa espera que esa capa permita pasar del diagnóstico descriptivo al diagnóstico explicativo: no solo qué muestran los números, sino por qué se mueven en la dirección observada.</a:t>
            </a:r>
            <a:br/>
            <a:br/>
            <a:r>
              <a:t>---</a:t>
            </a:r>
          </a:p>
          <a:p>
            <a:pPr>
              <a:spcAft>
                <a:spcPts val="600"/>
              </a:spcAft>
              <a:defRPr sz="1400">
                <a:solidFill>
                  <a:srgbClr val="333333"/>
                </a:solidFill>
              </a:defRPr>
            </a:pPr>
            <a:r>
              <a:t>Ámbitos de la solicitud (recorte):</a:t>
            </a:r>
          </a:p>
          <a:p>
            <a:pPr>
              <a:spcAft>
                <a:spcPts val="600"/>
              </a:spcAft>
              <a:defRPr sz="1400">
                <a:solidFill>
                  <a:srgbClr val="333333"/>
                </a:solidFill>
              </a:defRPr>
            </a:pPr>
            <a:r>
              <a:t>• Para esta fase, la solicitud prioriza cuatro familias documentales: la formalización de solvencia ante el regulador, la certificación independiente de reservas técnicas, la evidencia de procesamiento de la información analítica oficial, y el conjunto contractual del reaseguro en todas sus modalidades. En conjunto definen el perfil de riesgo técnico que la mesa debe poder explicar al comité de diagnóstico.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200" b="1">
                <a:solidFill>
                  <a:srgbClr val="1B3A5C"/>
                </a:solidFill>
              </a:defRPr>
            </a:pPr>
            <a:r>
              <a:t>Control semanal — síntesis de avance</a:t>
            </a:r>
          </a:p>
        </p:txBody>
      </p:sp>
      <p:sp>
        <p:nvSpPr>
          <p:cNvPr id="3" name="Content Placeholder 2"/>
          <p:cNvSpPr>
            <a:spLocks noGrp="1"/>
          </p:cNvSpPr>
          <p:nvPr>
            <p:ph idx="1"/>
          </p:nvPr>
        </p:nvSpPr>
        <p:spPr/>
        <p:txBody>
          <a:bodyPr/>
          <a:lstStyle/>
          <a:p>
            <a:pPr>
              <a:spcAft>
                <a:spcPts val="600"/>
              </a:spcAft>
              <a:defRPr sz="1400">
                <a:solidFill>
                  <a:srgbClr val="333333"/>
                </a:solidFill>
              </a:defRPr>
            </a:pPr>
            <a:r>
              <a:t>Este borrador sirve de control semanal informativo de la posición de la mesa; puede complementarse con el registro formal de sesiones y el expediente de la mesa sin sustituirlos.*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