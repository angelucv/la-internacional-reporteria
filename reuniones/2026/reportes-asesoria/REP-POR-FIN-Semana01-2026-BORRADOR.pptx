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600">
                <a:solidFill>
                  <a:srgbClr val="1B3A5C"/>
                </a:solidFill>
              </a:defRPr>
            </a:pPr>
            <a:r>
              <a:t>Evaluación de gestión, hallazgos y controles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Financiera (FIN)</a:t>
            </a:r>
            <a:br/>
            <a:r>
              <a:t>Plan de Optimización y Rentabilidad 2026</a:t>
            </a:r>
            <a:br/>
            <a:r>
              <a:t>Semana 1 (14–18 abr. 2026) — cierre orientativo: viernes 18 abr. 2026</a:t>
            </a:r>
            <a:br/>
            <a:r>
              <a:t>REP-POR-FIN-Semana01-2026-BORRADOR</a:t>
            </a:r>
            <a:br/>
            <a:br/>
            <a:r>
              <a:t>Clasificación: Confidencial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Responsables (Solicitud): Ernesto Alvarenga (Líder), Marjorie Caballero, Jan Sánchez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1B3A5C"/>
                </a:solidFill>
              </a:defRPr>
            </a:pPr>
            <a:r>
              <a:t>Objetivo y aspectos generales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Contribuir al mandato de Value Diligence del plan: obtener una visión transparente y consistente de la situación económico-financiera y de tesorería, la estructura de comisiones por canal (incl. Fibex) y la suficiencia patrimonial de cara al crecimiento, priorizando en esta oleada lo definido como Semana 1 en la Solicitud: estados financieros y seguimiento regulatorio, bases de comisiones y registro contable Fibex, en formato editable y trazable y coherente con fuentes únicas para analítica.  ---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Pendiente de minutas de mesa y de la mesa técnica bilateral citada en la Solicitud.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Filosofía del proceso: colaboración, no fiscalización; alinear entregas con inspecciones / SUDEASEG ya existentes cuando aplique.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(Espacio para notas de la primera reunión de mesa financiera.)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1B3A5C"/>
                </a:solidFill>
              </a:defRPr>
            </a:pPr>
            <a:r>
              <a:t>Hallazgos — contexto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Completar cuando se disponga de minutas e insumos. Leyenda de riesgo alineada al modelo: Bajo · Medio · Alto (o símbolos del deck corporativo cuando se traslade a PPT).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</a:defRPr>
            </a:pPr>
            <a:r>
              <a:t>Hallazgos (borrador)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Hallazgo (borrador)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Riesgo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Informes inspección general SUDEASEG (2022–2024)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Pendiente recepción / revisión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Auditorías externas 2024–2025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Pendiente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Balance cierre 2025 y balance de comprobación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Pendiente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Estados financieros ene.–mar. 2026 y comprobación diaria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Pendiente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Estructura de comisiones por canal (Fibex, corredores, televenta, oficina)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Pendiente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Registro contable comisiones Fibex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Pendiente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1B3A5C"/>
                </a:solidFill>
              </a:defRPr>
            </a:pPr>
            <a:r>
              <a:t>Perspectiva y marco documental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Perspectiva (siguiente oleada):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Cerrar brechas de Semana 1 aún pendientes.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Preparar insumos de Semana 2 según Solicitud: mayor analítico de cuentas críticas, Interfin, flujo de caja, priorización de pagos, entre otros.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Mantener trazabilidad y responsables de validación por contraparte.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Ámbitos de la solicitud (recorte):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Informes de inspección general SUDEASEG (años 2022–2024).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Informes de auditoría externa (ejercicios 2024 y 2025).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Balance de cierre 2025 y balance de comprobación.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Estados financieros mensuales enero–marzo 2026 y balance de comprobación diario según lineamientos 2026.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Estructura de comisiones pagadas por canal; registro contable de comisiones Fibex.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Elaboración: asesoría POR 2026 · Integrar con minutas MIN-POR-FIN-… cuando estén disponibles.*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